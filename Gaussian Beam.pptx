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8" r:id="rId2"/>
    <p:sldId id="259" r:id="rId3"/>
    <p:sldId id="260" r:id="rId4"/>
    <p:sldId id="264" r:id="rId5"/>
    <p:sldId id="261" r:id="rId6"/>
    <p:sldId id="265" r:id="rId7"/>
    <p:sldId id="263" r:id="rId8"/>
    <p:sldId id="262" r:id="rId9"/>
    <p:sldId id="267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6727ACA-5EEC-4265-9B4A-0E0E3FC8C0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E65CAA-0F8C-4DA3-A2FE-956F411C49A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41192-223C-4BC7-9F50-8B8560235453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F9D41CC2-4FF3-4B59-B882-62D671D8CD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5377D5F-15C5-444A-A664-468C07265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6D1D7A-D0BF-4FB9-8C2F-C78727EF8C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900291-7C5F-4255-AC42-2E9262EA5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86276-69D9-4F7D-9438-C628C29C56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6B9-F7FD-44B8-9C1B-F36DBB12D222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5179-86E2-4D4B-A623-CD0CE5C7D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43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6B9-F7FD-44B8-9C1B-F36DBB12D222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5179-86E2-4D4B-A623-CD0CE5C7D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689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6B9-F7FD-44B8-9C1B-F36DBB12D222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5179-86E2-4D4B-A623-CD0CE5C7D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900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6B9-F7FD-44B8-9C1B-F36DBB12D222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5179-86E2-4D4B-A623-CD0CE5C7D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079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6B9-F7FD-44B8-9C1B-F36DBB12D222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5179-86E2-4D4B-A623-CD0CE5C7D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22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6B9-F7FD-44B8-9C1B-F36DBB12D222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5179-86E2-4D4B-A623-CD0CE5C7D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443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6B9-F7FD-44B8-9C1B-F36DBB12D222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5179-86E2-4D4B-A623-CD0CE5C7D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70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6B9-F7FD-44B8-9C1B-F36DBB12D222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5179-86E2-4D4B-A623-CD0CE5C7D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442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6B9-F7FD-44B8-9C1B-F36DBB12D222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5179-86E2-4D4B-A623-CD0CE5C7D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43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6B9-F7FD-44B8-9C1B-F36DBB12D222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5179-86E2-4D4B-A623-CD0CE5C7D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77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6B9-F7FD-44B8-9C1B-F36DBB12D222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55179-86E2-4D4B-A623-CD0CE5C7D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22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C86B9-F7FD-44B8-9C1B-F36DBB12D222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55179-86E2-4D4B-A623-CD0CE5C7D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20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DB8FFF6-5539-4579-BDB7-CFED08EDDD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39" r="50000" b="20311"/>
          <a:stretch/>
        </p:blipFill>
        <p:spPr>
          <a:xfrm>
            <a:off x="1937856" y="709109"/>
            <a:ext cx="7868873" cy="543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304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A03187A-DC4C-434F-AB5C-3873600C0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62" y="1789108"/>
            <a:ext cx="4724400" cy="46101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851A34B-980D-425B-9943-232919B65D35}"/>
              </a:ext>
            </a:extLst>
          </p:cNvPr>
          <p:cNvSpPr txBox="1"/>
          <p:nvPr/>
        </p:nvSpPr>
        <p:spPr>
          <a:xfrm>
            <a:off x="3494843" y="594269"/>
            <a:ext cx="43347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CST</a:t>
            </a:r>
            <a:r>
              <a:rPr lang="zh-CN" altLang="en-US" sz="4000" dirty="0"/>
              <a:t>高斯光源设置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FE3DF6-6DAD-4A9C-8543-9D3822485E19}"/>
              </a:ext>
            </a:extLst>
          </p:cNvPr>
          <p:cNvSpPr txBox="1"/>
          <p:nvPr/>
        </p:nvSpPr>
        <p:spPr>
          <a:xfrm>
            <a:off x="8186875" y="2332343"/>
            <a:ext cx="2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一、光源参数设置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855AE6-EF69-4613-91EB-78153560841B}"/>
              </a:ext>
            </a:extLst>
          </p:cNvPr>
          <p:cNvSpPr txBox="1"/>
          <p:nvPr/>
        </p:nvSpPr>
        <p:spPr>
          <a:xfrm>
            <a:off x="782714" y="4024813"/>
            <a:ext cx="2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二、方向和偏振设置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B59D53-F78C-4FB8-86CC-A0DE63CA9B5F}"/>
              </a:ext>
            </a:extLst>
          </p:cNvPr>
          <p:cNvSpPr txBox="1"/>
          <p:nvPr/>
        </p:nvSpPr>
        <p:spPr>
          <a:xfrm>
            <a:off x="8266591" y="4394145"/>
            <a:ext cx="2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三、其他设置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773BDD-68A3-4192-AB0A-4CFB684E1F40}"/>
              </a:ext>
            </a:extLst>
          </p:cNvPr>
          <p:cNvSpPr/>
          <p:nvPr/>
        </p:nvSpPr>
        <p:spPr>
          <a:xfrm>
            <a:off x="3289362" y="2066064"/>
            <a:ext cx="4540188" cy="1171853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804C19-2854-4678-8049-3D045566D749}"/>
              </a:ext>
            </a:extLst>
          </p:cNvPr>
          <p:cNvSpPr/>
          <p:nvPr/>
        </p:nvSpPr>
        <p:spPr>
          <a:xfrm>
            <a:off x="3304527" y="3285784"/>
            <a:ext cx="2433590" cy="2436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C243B0-6A5F-4A49-AFB0-26F72F51BCD3}"/>
              </a:ext>
            </a:extLst>
          </p:cNvPr>
          <p:cNvSpPr/>
          <p:nvPr/>
        </p:nvSpPr>
        <p:spPr>
          <a:xfrm>
            <a:off x="5827265" y="3285784"/>
            <a:ext cx="1940141" cy="2436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310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232CB8A-C36A-4820-8D0C-1E1A649CA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04" y="1652402"/>
            <a:ext cx="4400000" cy="62857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32BDC68-DE6D-4C83-A9FF-A3F701A9283C}"/>
              </a:ext>
            </a:extLst>
          </p:cNvPr>
          <p:cNvSpPr/>
          <p:nvPr/>
        </p:nvSpPr>
        <p:spPr>
          <a:xfrm>
            <a:off x="2068498" y="2032398"/>
            <a:ext cx="932156" cy="248575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C5F85A-3E63-4640-8DB3-D0EB368732BB}"/>
              </a:ext>
            </a:extLst>
          </p:cNvPr>
          <p:cNvSpPr txBox="1"/>
          <p:nvPr/>
        </p:nvSpPr>
        <p:spPr>
          <a:xfrm>
            <a:off x="550416" y="468032"/>
            <a:ext cx="2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一、光源参数设置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FC3376-37BB-43DC-AB5C-64C02A725008}"/>
              </a:ext>
            </a:extLst>
          </p:cNvPr>
          <p:cNvSpPr txBox="1"/>
          <p:nvPr/>
        </p:nvSpPr>
        <p:spPr>
          <a:xfrm>
            <a:off x="437966" y="1248137"/>
            <a:ext cx="2920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</a:t>
            </a:r>
            <a:r>
              <a:rPr lang="zh-CN" altLang="en-US" sz="1400" dirty="0"/>
              <a:t>、波段设置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FC20F8-1FCC-4458-BFB1-238E25F5D3E8}"/>
              </a:ext>
            </a:extLst>
          </p:cNvPr>
          <p:cNvSpPr txBox="1"/>
          <p:nvPr/>
        </p:nvSpPr>
        <p:spPr>
          <a:xfrm>
            <a:off x="550415" y="2536682"/>
            <a:ext cx="73950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        光源波长范围的设置有波长和频率两种设置方式，均可设置为单频或者宽频。</a:t>
            </a:r>
            <a:r>
              <a:rPr lang="en-US" altLang="zh-CN" sz="1400" dirty="0"/>
              <a:t>Sample</a:t>
            </a:r>
            <a:r>
              <a:rPr lang="zh-CN" altLang="en-US" sz="1400" dirty="0"/>
              <a:t>：从设置的波段范围内等间隔取样的点数，单频只能设置为</a:t>
            </a:r>
            <a:r>
              <a:rPr lang="en-US" altLang="zh-CN" sz="1400" dirty="0"/>
              <a:t>1</a:t>
            </a:r>
            <a:r>
              <a:rPr lang="zh-CN" altLang="en-US" sz="1400" dirty="0"/>
              <a:t>。注：若是波长设置方式其单位固定为</a:t>
            </a:r>
            <a:r>
              <a:rPr lang="en-US" altLang="zh-CN" sz="1400" dirty="0"/>
              <a:t>nm</a:t>
            </a:r>
            <a:r>
              <a:rPr lang="zh-CN" altLang="en-US" sz="1400" dirty="0"/>
              <a:t>，若是频率设置方式其单位与文件设置的频率单位相同。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474153-6603-4194-AD30-21F60D1FD10D}"/>
              </a:ext>
            </a:extLst>
          </p:cNvPr>
          <p:cNvSpPr/>
          <p:nvPr/>
        </p:nvSpPr>
        <p:spPr>
          <a:xfrm>
            <a:off x="9482832" y="3304712"/>
            <a:ext cx="932156" cy="248575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2E9E581-54A8-4C18-BAB6-8EBCAF162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18" y="3901243"/>
            <a:ext cx="2895238" cy="28571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D31C3D5-E926-49D2-B8D5-5090C2F75EFC}"/>
              </a:ext>
            </a:extLst>
          </p:cNvPr>
          <p:cNvSpPr txBox="1"/>
          <p:nvPr/>
        </p:nvSpPr>
        <p:spPr>
          <a:xfrm>
            <a:off x="346230" y="3341273"/>
            <a:ext cx="2920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</a:t>
            </a:r>
            <a:r>
              <a:rPr lang="zh-CN" altLang="en-US" sz="1400" dirty="0"/>
              <a:t>、焦点距离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905BDD2-7561-4430-AFA2-C8837EA51F1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006"/>
          <a:stretch/>
        </p:blipFill>
        <p:spPr>
          <a:xfrm>
            <a:off x="7791999" y="3016687"/>
            <a:ext cx="4400001" cy="38290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7236222-ADCE-445A-8A98-A8FE8C37BA81}"/>
              </a:ext>
            </a:extLst>
          </p:cNvPr>
          <p:cNvSpPr txBox="1"/>
          <p:nvPr/>
        </p:nvSpPr>
        <p:spPr>
          <a:xfrm>
            <a:off x="800653" y="4524826"/>
            <a:ext cx="44000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        </a:t>
            </a:r>
            <a:r>
              <a:rPr lang="zh-CN" altLang="en-US" sz="1400" dirty="0"/>
              <a:t>焦点距离为光源位置到光束焦点</a:t>
            </a:r>
            <a:r>
              <a:rPr lang="en-US" altLang="zh-CN" sz="1400" dirty="0"/>
              <a:t>(</a:t>
            </a:r>
            <a:r>
              <a:rPr lang="zh-CN" altLang="en-US" sz="1400" dirty="0"/>
              <a:t>最小直径点即束腰</a:t>
            </a:r>
            <a:r>
              <a:rPr lang="en-US" altLang="zh-CN" sz="1400" dirty="0"/>
              <a:t>)</a:t>
            </a:r>
            <a:r>
              <a:rPr lang="zh-CN" altLang="en-US" sz="1400" dirty="0"/>
              <a:t>的距离，单位与文件设置的长度单位相同。注：光源将以长方形的样式给出，光源位置的设置可在高斯光束生成以后在</a:t>
            </a:r>
            <a:r>
              <a:rPr lang="en-US" altLang="zh-CN" sz="1400" dirty="0"/>
              <a:t>Parameter List</a:t>
            </a:r>
            <a:r>
              <a:rPr lang="zh-CN" altLang="en-US" sz="1400" dirty="0"/>
              <a:t>里设置</a:t>
            </a:r>
            <a:r>
              <a:rPr lang="zh-CN" altLang="en-US" dirty="0"/>
              <a:t>。</a:t>
            </a:r>
            <a:endParaRPr lang="zh-CN" altLang="en-US" sz="1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8688D22-6602-42EE-9F00-D2B9A4776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799297"/>
            <a:ext cx="7526626" cy="73866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D7B4D9C-D161-4421-9A38-855FD75138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6984" y="124464"/>
            <a:ext cx="4495800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58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62895B5-6708-4CB6-86B6-FBAC0F80D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80139" y="2653181"/>
            <a:ext cx="2401200" cy="57647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1F92DAD-CB7A-44F9-9E5C-130E9070E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65589" y="-962493"/>
            <a:ext cx="3835014" cy="5760000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6D42F84-AEDC-4A9B-93B6-5932487EE730}"/>
              </a:ext>
            </a:extLst>
          </p:cNvPr>
          <p:cNvCxnSpPr>
            <a:cxnSpLocks/>
          </p:cNvCxnSpPr>
          <p:nvPr/>
        </p:nvCxnSpPr>
        <p:spPr>
          <a:xfrm>
            <a:off x="1661993" y="0"/>
            <a:ext cx="0" cy="407467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3C52D48-C2D8-4038-A698-569A2CF4F858}"/>
              </a:ext>
            </a:extLst>
          </p:cNvPr>
          <p:cNvCxnSpPr/>
          <p:nvPr/>
        </p:nvCxnSpPr>
        <p:spPr>
          <a:xfrm>
            <a:off x="182753" y="4074677"/>
            <a:ext cx="57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2CB7532-0627-4807-AA75-50756E27069D}"/>
              </a:ext>
            </a:extLst>
          </p:cNvPr>
          <p:cNvCxnSpPr/>
          <p:nvPr/>
        </p:nvCxnSpPr>
        <p:spPr>
          <a:xfrm>
            <a:off x="1661993" y="3907776"/>
            <a:ext cx="0" cy="154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19112DF-D352-44EF-BDA4-819F31F9F8ED}"/>
              </a:ext>
            </a:extLst>
          </p:cNvPr>
          <p:cNvCxnSpPr/>
          <p:nvPr/>
        </p:nvCxnSpPr>
        <p:spPr>
          <a:xfrm>
            <a:off x="3073416" y="3907776"/>
            <a:ext cx="0" cy="154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9908AD2-4DCD-41FC-A852-CA26664E47EB}"/>
              </a:ext>
            </a:extLst>
          </p:cNvPr>
          <p:cNvCxnSpPr/>
          <p:nvPr/>
        </p:nvCxnSpPr>
        <p:spPr>
          <a:xfrm>
            <a:off x="4504180" y="3907776"/>
            <a:ext cx="0" cy="154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E933EB81-1453-4C73-8892-DC115E7D2B43}"/>
              </a:ext>
            </a:extLst>
          </p:cNvPr>
          <p:cNvSpPr txBox="1"/>
          <p:nvPr/>
        </p:nvSpPr>
        <p:spPr>
          <a:xfrm>
            <a:off x="1360507" y="4057938"/>
            <a:ext cx="99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1000um</a:t>
            </a:r>
            <a:endParaRPr lang="zh-CN" altLang="en-US" sz="12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E02391-5A34-442E-BE77-1DC9B76B5EAF}"/>
              </a:ext>
            </a:extLst>
          </p:cNvPr>
          <p:cNvSpPr txBox="1"/>
          <p:nvPr/>
        </p:nvSpPr>
        <p:spPr>
          <a:xfrm>
            <a:off x="2676696" y="4057938"/>
            <a:ext cx="99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2000um</a:t>
            </a:r>
            <a:endParaRPr lang="zh-CN" altLang="en-US" sz="1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DE86F88-71CA-4D77-B948-62D908D01608}"/>
              </a:ext>
            </a:extLst>
          </p:cNvPr>
          <p:cNvSpPr txBox="1"/>
          <p:nvPr/>
        </p:nvSpPr>
        <p:spPr>
          <a:xfrm>
            <a:off x="4200688" y="4066308"/>
            <a:ext cx="99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3000um</a:t>
            </a:r>
            <a:endParaRPr lang="zh-CN" altLang="en-US" sz="12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699C757-2309-4418-BD87-BA3222573124}"/>
              </a:ext>
            </a:extLst>
          </p:cNvPr>
          <p:cNvSpPr txBox="1"/>
          <p:nvPr/>
        </p:nvSpPr>
        <p:spPr>
          <a:xfrm>
            <a:off x="5443989" y="4093679"/>
            <a:ext cx="99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4000um</a:t>
            </a:r>
            <a:endParaRPr lang="zh-CN" altLang="en-US" sz="12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A5B0147-7FDB-4BBD-99B4-A933BA9E5CBE}"/>
              </a:ext>
            </a:extLst>
          </p:cNvPr>
          <p:cNvSpPr txBox="1"/>
          <p:nvPr/>
        </p:nvSpPr>
        <p:spPr>
          <a:xfrm>
            <a:off x="6639503" y="1267839"/>
            <a:ext cx="444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CST</a:t>
            </a:r>
            <a:r>
              <a:rPr lang="zh-CN" altLang="en-US" dirty="0"/>
              <a:t>仿真结果，设置的焦点距离为</a:t>
            </a:r>
            <a:r>
              <a:rPr lang="en-US" altLang="zh-CN" dirty="0"/>
              <a:t>1000um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AFC5496-9D2B-4F6B-9BCC-C40FCCD8725F}"/>
              </a:ext>
            </a:extLst>
          </p:cNvPr>
          <p:cNvSpPr txBox="1"/>
          <p:nvPr/>
        </p:nvSpPr>
        <p:spPr>
          <a:xfrm>
            <a:off x="6735976" y="4674828"/>
            <a:ext cx="4249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CST</a:t>
            </a:r>
            <a:r>
              <a:rPr lang="zh-CN" altLang="en-US" dirty="0"/>
              <a:t>仿真结果，设置的焦点距离为</a:t>
            </a:r>
            <a:r>
              <a:rPr lang="en-US" altLang="zh-CN" dirty="0"/>
              <a:t>0um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0317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7C5F85A-3E63-4640-8DB3-D0EB368732BB}"/>
              </a:ext>
            </a:extLst>
          </p:cNvPr>
          <p:cNvSpPr txBox="1"/>
          <p:nvPr/>
        </p:nvSpPr>
        <p:spPr>
          <a:xfrm>
            <a:off x="550416" y="468032"/>
            <a:ext cx="2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一、光源参数设置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FC3376-37BB-43DC-AB5C-64C02A725008}"/>
              </a:ext>
            </a:extLst>
          </p:cNvPr>
          <p:cNvSpPr txBox="1"/>
          <p:nvPr/>
        </p:nvSpPr>
        <p:spPr>
          <a:xfrm>
            <a:off x="437966" y="1248137"/>
            <a:ext cx="2920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</a:t>
            </a:r>
            <a:r>
              <a:rPr lang="zh-CN" altLang="en-US" sz="1400" dirty="0"/>
              <a:t>、光斑大小设置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FC20F8-1FCC-4458-BFB1-238E25F5D3E8}"/>
              </a:ext>
            </a:extLst>
          </p:cNvPr>
          <p:cNvSpPr txBox="1"/>
          <p:nvPr/>
        </p:nvSpPr>
        <p:spPr>
          <a:xfrm>
            <a:off x="550415" y="2536682"/>
            <a:ext cx="49448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        光斑大小的设置有两种瑞利距离和最小光束半径两种设置方式，单位与文件设置的长度单位相同。</a:t>
            </a:r>
            <a:endParaRPr lang="en-US" altLang="zh-CN" sz="1400" dirty="0"/>
          </a:p>
          <a:p>
            <a:r>
              <a:rPr lang="en-US" altLang="zh-CN" sz="1400" dirty="0"/>
              <a:t>        </a:t>
            </a:r>
            <a:r>
              <a:rPr lang="zh-CN" altLang="en-US" sz="1400" dirty="0"/>
              <a:t>瑞利长度如图所示，反应了高斯光束从焦点扩散的速度。最小光束半径为束腰宽度的一半。</a:t>
            </a:r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二者的关系为：</a:t>
            </a:r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474153-6603-4194-AD30-21F60D1FD10D}"/>
              </a:ext>
            </a:extLst>
          </p:cNvPr>
          <p:cNvSpPr/>
          <p:nvPr/>
        </p:nvSpPr>
        <p:spPr>
          <a:xfrm>
            <a:off x="9482832" y="3304712"/>
            <a:ext cx="932156" cy="248575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676BF6-C495-41E7-B565-5DDBE2658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78" y="1728933"/>
            <a:ext cx="3847619" cy="50476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81D750A-7112-4A2F-9C1F-A0064E133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187" y="714647"/>
            <a:ext cx="4676190" cy="25333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902F6257-9183-48B8-812D-79E267A768BA}"/>
                  </a:ext>
                </a:extLst>
              </p:cNvPr>
              <p:cNvSpPr/>
              <p:nvPr/>
            </p:nvSpPr>
            <p:spPr>
              <a:xfrm>
                <a:off x="1777012" y="3624308"/>
                <a:ext cx="1198277" cy="652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x-IV_mathan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x-IV_matha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x-IV_mathan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x-IV_mathan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x-IV_mathan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x-IV_mathan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x-IV_mathan" altLang="zh-CN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902F6257-9183-48B8-812D-79E267A768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012" y="3624308"/>
                <a:ext cx="1198277" cy="6525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3639097F-BDB5-4EA5-B0B2-D1BC8B5E04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633" y="3939550"/>
            <a:ext cx="4139645" cy="291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32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DFC3376-37BB-43DC-AB5C-64C02A725008}"/>
              </a:ext>
            </a:extLst>
          </p:cNvPr>
          <p:cNvSpPr txBox="1"/>
          <p:nvPr/>
        </p:nvSpPr>
        <p:spPr>
          <a:xfrm>
            <a:off x="482354" y="3026424"/>
            <a:ext cx="2920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</a:t>
            </a:r>
            <a:r>
              <a:rPr lang="zh-CN" altLang="en-US" sz="1400" dirty="0"/>
              <a:t>、传输方向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C156AD-323A-47E1-BC95-0825DDF0D7D1}"/>
              </a:ext>
            </a:extLst>
          </p:cNvPr>
          <p:cNvSpPr txBox="1"/>
          <p:nvPr/>
        </p:nvSpPr>
        <p:spPr>
          <a:xfrm>
            <a:off x="929381" y="1006405"/>
            <a:ext cx="2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二、方向和偏振设置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FD364A6-1A54-43DF-8443-2A9BFCE08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83" y="3668697"/>
            <a:ext cx="2219048" cy="3428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79C8505-7AB8-49FE-8A01-58E447EB8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834" y="57512"/>
            <a:ext cx="2819088" cy="2853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03BA110-DC41-4E15-9B44-CD62F83C363D}"/>
              </a:ext>
            </a:extLst>
          </p:cNvPr>
          <p:cNvSpPr/>
          <p:nvPr/>
        </p:nvSpPr>
        <p:spPr>
          <a:xfrm>
            <a:off x="446312" y="4248396"/>
            <a:ext cx="38868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dirty="0">
                <a:solidFill>
                  <a:prstClr val="black"/>
                </a:solidFill>
              </a:rPr>
              <a:t>定义高斯光束的传播方向，方向与由</a:t>
            </a:r>
            <a:r>
              <a:rPr lang="en-US" altLang="zh-CN" sz="1400" dirty="0">
                <a:solidFill>
                  <a:prstClr val="black"/>
                </a:solidFill>
              </a:rPr>
              <a:t>x</a:t>
            </a:r>
            <a:r>
              <a:rPr lang="zh-CN" altLang="en-US" sz="1400" dirty="0">
                <a:solidFill>
                  <a:prstClr val="black"/>
                </a:solidFill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</a:rPr>
              <a:t>y</a:t>
            </a:r>
            <a:r>
              <a:rPr lang="zh-CN" altLang="en-US" sz="1400" dirty="0">
                <a:solidFill>
                  <a:prstClr val="black"/>
                </a:solidFill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</a:rPr>
              <a:t>z</a:t>
            </a:r>
            <a:r>
              <a:rPr lang="zh-CN" altLang="en-US" sz="1400" dirty="0">
                <a:solidFill>
                  <a:prstClr val="black"/>
                </a:solidFill>
              </a:rPr>
              <a:t>设置的向量方向相同。</a:t>
            </a:r>
            <a:endParaRPr lang="en-US" altLang="zh-CN" sz="1400" dirty="0">
              <a:solidFill>
                <a:prstClr val="black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6A7F4D-5171-499B-B104-6AE354722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569" y="3590516"/>
            <a:ext cx="2333625" cy="11811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6113A01-F776-4FAA-A6DF-3107D7CF9D52}"/>
              </a:ext>
            </a:extLst>
          </p:cNvPr>
          <p:cNvSpPr txBox="1"/>
          <p:nvPr/>
        </p:nvSpPr>
        <p:spPr>
          <a:xfrm>
            <a:off x="6623440" y="3136642"/>
            <a:ext cx="2920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</a:t>
            </a:r>
            <a:r>
              <a:rPr lang="zh-CN" altLang="en-US" sz="1400" dirty="0"/>
              <a:t>、偏振设置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580EF3-77D3-4AF9-BEE3-6D5DF877B4CD}"/>
              </a:ext>
            </a:extLst>
          </p:cNvPr>
          <p:cNvSpPr/>
          <p:nvPr/>
        </p:nvSpPr>
        <p:spPr>
          <a:xfrm>
            <a:off x="5504873" y="5176651"/>
            <a:ext cx="500545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dirty="0">
                <a:solidFill>
                  <a:prstClr val="black"/>
                </a:solidFill>
              </a:rPr>
              <a:t>偏振类型有线偏（线偏只能设置</a:t>
            </a:r>
            <a:r>
              <a:rPr lang="en-US" altLang="zh-CN" sz="1400" dirty="0">
                <a:solidFill>
                  <a:prstClr val="black"/>
                </a:solidFill>
              </a:rPr>
              <a:t>P1</a:t>
            </a:r>
            <a:r>
              <a:rPr lang="zh-CN" altLang="en-US" sz="1400" dirty="0">
                <a:solidFill>
                  <a:prstClr val="black"/>
                </a:solidFill>
              </a:rPr>
              <a:t>或</a:t>
            </a:r>
            <a:r>
              <a:rPr lang="en-US" altLang="zh-CN" sz="1400" dirty="0">
                <a:solidFill>
                  <a:prstClr val="black"/>
                </a:solidFill>
              </a:rPr>
              <a:t>E1</a:t>
            </a:r>
            <a:r>
              <a:rPr lang="zh-CN" altLang="en-US" sz="1400" dirty="0">
                <a:solidFill>
                  <a:prstClr val="black"/>
                </a:solidFill>
              </a:rPr>
              <a:t>）、右手椭圆偏、左手椭圆偏，需配合振幅（强度）进行使用，如使</a:t>
            </a:r>
            <a:r>
              <a:rPr lang="en-US" altLang="zh-CN" sz="1400" dirty="0">
                <a:solidFill>
                  <a:prstClr val="black"/>
                </a:solidFill>
              </a:rPr>
              <a:t>E1</a:t>
            </a:r>
            <a:r>
              <a:rPr lang="zh-CN" altLang="en-US" sz="1400" dirty="0">
                <a:solidFill>
                  <a:prstClr val="black"/>
                </a:solidFill>
              </a:rPr>
              <a:t>和</a:t>
            </a:r>
            <a:r>
              <a:rPr lang="en-US" altLang="zh-CN" sz="1400" dirty="0">
                <a:solidFill>
                  <a:prstClr val="black"/>
                </a:solidFill>
              </a:rPr>
              <a:t>E2</a:t>
            </a:r>
            <a:r>
              <a:rPr lang="zh-CN" altLang="en-US" sz="1400" dirty="0">
                <a:solidFill>
                  <a:prstClr val="black"/>
                </a:solidFill>
              </a:rPr>
              <a:t>相等生成圆偏。默认</a:t>
            </a:r>
            <a:r>
              <a:rPr lang="en-US" altLang="zh-CN" sz="1400" dirty="0">
                <a:solidFill>
                  <a:prstClr val="black"/>
                </a:solidFill>
              </a:rPr>
              <a:t>E1</a:t>
            </a:r>
            <a:r>
              <a:rPr lang="zh-CN" altLang="en-US" sz="1400" dirty="0">
                <a:solidFill>
                  <a:prstClr val="black"/>
                </a:solidFill>
              </a:rPr>
              <a:t>是</a:t>
            </a:r>
            <a:r>
              <a:rPr lang="en-US" altLang="zh-CN" sz="1400" dirty="0">
                <a:solidFill>
                  <a:prstClr val="black"/>
                </a:solidFill>
              </a:rPr>
              <a:t>x</a:t>
            </a:r>
            <a:r>
              <a:rPr lang="zh-CN" altLang="en-US" sz="1400" dirty="0">
                <a:solidFill>
                  <a:prstClr val="black"/>
                </a:solidFill>
              </a:rPr>
              <a:t>轴方向的，更改</a:t>
            </a:r>
            <a:r>
              <a:rPr lang="en-US" altLang="zh-CN" sz="1400" dirty="0">
                <a:solidFill>
                  <a:prstClr val="black"/>
                </a:solidFill>
              </a:rPr>
              <a:t>E1</a:t>
            </a:r>
            <a:r>
              <a:rPr lang="zh-CN" altLang="en-US" sz="1400" dirty="0">
                <a:solidFill>
                  <a:prstClr val="black"/>
                </a:solidFill>
              </a:rPr>
              <a:t>偏振角度，可使其围绕光束轴旋转偏振，从传播方向观察时，正角为逆时针旋转。</a:t>
            </a:r>
            <a:endParaRPr lang="en-US" altLang="zh-CN" sz="1400" dirty="0">
              <a:solidFill>
                <a:prstClr val="black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D366CB-56D3-492B-8DCD-539124F95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6776" y="3697229"/>
            <a:ext cx="809625" cy="6286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71D70A2-FFA0-4145-A0C5-C2E8E58C40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3260" y="3525179"/>
            <a:ext cx="1323975" cy="46672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D7CC348-5D99-4079-960B-F3440E0E82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9141" y="4248396"/>
            <a:ext cx="206692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250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DFC3376-37BB-43DC-AB5C-64C02A725008}"/>
              </a:ext>
            </a:extLst>
          </p:cNvPr>
          <p:cNvSpPr txBox="1"/>
          <p:nvPr/>
        </p:nvSpPr>
        <p:spPr>
          <a:xfrm>
            <a:off x="482354" y="3026424"/>
            <a:ext cx="2920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</a:t>
            </a:r>
            <a:r>
              <a:rPr lang="zh-CN" altLang="en-US" sz="1400" dirty="0"/>
              <a:t>、光源切片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C156AD-323A-47E1-BC95-0825DDF0D7D1}"/>
              </a:ext>
            </a:extLst>
          </p:cNvPr>
          <p:cNvSpPr txBox="1"/>
          <p:nvPr/>
        </p:nvSpPr>
        <p:spPr>
          <a:xfrm>
            <a:off x="929381" y="1006405"/>
            <a:ext cx="2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二、方向和偏振设置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9C8505-7AB8-49FE-8A01-58E447EB8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834" y="57512"/>
            <a:ext cx="2819088" cy="28533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03BA110-DC41-4E15-9B44-CD62F83C363D}"/>
              </a:ext>
            </a:extLst>
          </p:cNvPr>
          <p:cNvSpPr/>
          <p:nvPr/>
        </p:nvSpPr>
        <p:spPr>
          <a:xfrm>
            <a:off x="446312" y="4837400"/>
            <a:ext cx="388689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dirty="0">
                <a:solidFill>
                  <a:prstClr val="black"/>
                </a:solidFill>
              </a:rPr>
              <a:t>        自定义宽度对光源进行切片，光源的总功率仅为预先定义的波束功率的一小部分。切片方向可为</a:t>
            </a:r>
            <a:r>
              <a:rPr lang="en-US" altLang="zh-CN" sz="1400" dirty="0">
                <a:solidFill>
                  <a:prstClr val="black"/>
                </a:solidFill>
              </a:rPr>
              <a:t>0</a:t>
            </a:r>
            <a:r>
              <a:rPr lang="zh-CN" altLang="en-US" sz="1400" dirty="0">
                <a:solidFill>
                  <a:prstClr val="black"/>
                </a:solidFill>
              </a:rPr>
              <a:t>度或</a:t>
            </a:r>
            <a:r>
              <a:rPr lang="en-US" altLang="zh-CN" sz="1400" dirty="0">
                <a:solidFill>
                  <a:prstClr val="black"/>
                </a:solidFill>
              </a:rPr>
              <a:t>90</a:t>
            </a:r>
            <a:r>
              <a:rPr lang="zh-CN" altLang="en-US" sz="1400" dirty="0">
                <a:solidFill>
                  <a:prstClr val="black"/>
                </a:solidFill>
              </a:rPr>
              <a:t>度</a:t>
            </a:r>
            <a:endParaRPr lang="en-US" altLang="zh-CN" sz="1400" dirty="0">
              <a:solidFill>
                <a:prstClr val="black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13EBFFD-76E8-4318-9261-4AC6785FE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99" y="3438873"/>
            <a:ext cx="2390775" cy="7048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E44EEF5-3261-460F-95A8-F9C40E1BB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985" y="3780068"/>
            <a:ext cx="2928813" cy="28533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AC1DDA5-3E8E-48CF-ADBD-CBDA512FF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873" y="3780068"/>
            <a:ext cx="2304896" cy="285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DFC3376-37BB-43DC-AB5C-64C02A725008}"/>
              </a:ext>
            </a:extLst>
          </p:cNvPr>
          <p:cNvSpPr txBox="1"/>
          <p:nvPr/>
        </p:nvSpPr>
        <p:spPr>
          <a:xfrm>
            <a:off x="482354" y="3026424"/>
            <a:ext cx="2920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</a:t>
            </a:r>
            <a:r>
              <a:rPr lang="zh-CN" altLang="en-US" sz="1400" dirty="0"/>
              <a:t>、单位波长划分点数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C156AD-323A-47E1-BC95-0825DDF0D7D1}"/>
              </a:ext>
            </a:extLst>
          </p:cNvPr>
          <p:cNvSpPr txBox="1"/>
          <p:nvPr/>
        </p:nvSpPr>
        <p:spPr>
          <a:xfrm>
            <a:off x="929381" y="1006405"/>
            <a:ext cx="2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三、其他设置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3BA110-DC41-4E15-9B44-CD62F83C363D}"/>
              </a:ext>
            </a:extLst>
          </p:cNvPr>
          <p:cNvSpPr/>
          <p:nvPr/>
        </p:nvSpPr>
        <p:spPr>
          <a:xfrm>
            <a:off x="446312" y="4248396"/>
            <a:ext cx="38868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dirty="0">
                <a:solidFill>
                  <a:prstClr val="black"/>
                </a:solidFill>
              </a:rPr>
              <a:t>每个波长划分的点数，建议使用</a:t>
            </a:r>
            <a:r>
              <a:rPr lang="en-US" altLang="zh-CN" sz="1400" dirty="0">
                <a:solidFill>
                  <a:prstClr val="black"/>
                </a:solidFill>
              </a:rPr>
              <a:t>8</a:t>
            </a:r>
            <a:r>
              <a:rPr lang="zh-CN" altLang="en-US" sz="1400" dirty="0">
                <a:solidFill>
                  <a:prstClr val="black"/>
                </a:solidFill>
              </a:rPr>
              <a:t>以上，越多算的越准，但越慢。</a:t>
            </a:r>
            <a:endParaRPr lang="en-US" altLang="zh-CN" sz="1400" dirty="0">
              <a:solidFill>
                <a:prstClr val="black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3AFFAE1-EFBC-4F4A-A3B9-0F9D60094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397" y="185112"/>
            <a:ext cx="2066925" cy="23812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5CC627C-5D3E-4392-9C9E-9078E7E6A5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29" b="78446"/>
          <a:stretch/>
        </p:blipFill>
        <p:spPr>
          <a:xfrm>
            <a:off x="741536" y="3637410"/>
            <a:ext cx="2066925" cy="30777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3A0EC29-E0E8-45F5-9030-91D4CEF2D194}"/>
              </a:ext>
            </a:extLst>
          </p:cNvPr>
          <p:cNvSpPr txBox="1"/>
          <p:nvPr/>
        </p:nvSpPr>
        <p:spPr>
          <a:xfrm>
            <a:off x="5869364" y="2992139"/>
            <a:ext cx="2920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</a:t>
            </a:r>
            <a:r>
              <a:rPr lang="zh-CN" altLang="en-US" sz="1400" dirty="0"/>
              <a:t>、截断方式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51B84D-2A9E-4C71-B792-617A1CF2B8B6}"/>
              </a:ext>
            </a:extLst>
          </p:cNvPr>
          <p:cNvSpPr/>
          <p:nvPr/>
        </p:nvSpPr>
        <p:spPr>
          <a:xfrm>
            <a:off x="5833322" y="4771616"/>
            <a:ext cx="38868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dirty="0">
                <a:solidFill>
                  <a:prstClr val="black"/>
                </a:solidFill>
              </a:rPr>
              <a:t>理论的高斯光束为无线宽的，仿真时需要对光束进行截断处理，截断有两种方式，一是设置</a:t>
            </a:r>
            <a:r>
              <a:rPr lang="en-US" altLang="zh-CN" sz="1400" dirty="0">
                <a:solidFill>
                  <a:prstClr val="black"/>
                </a:solidFill>
              </a:rPr>
              <a:t>box</a:t>
            </a:r>
            <a:r>
              <a:rPr lang="zh-CN" altLang="en-US" sz="1400" dirty="0">
                <a:solidFill>
                  <a:prstClr val="black"/>
                </a:solidFill>
              </a:rPr>
              <a:t>大小进行截断，二是设置截断误差达到误差允许即截断，二者只能选其一。</a:t>
            </a:r>
            <a:endParaRPr lang="en-US" altLang="zh-CN" sz="1400" dirty="0">
              <a:solidFill>
                <a:prstClr val="black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27E40BA-A91C-4778-A3A2-75DFCD414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218" y="3345112"/>
            <a:ext cx="200025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516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FC156AD-323A-47E1-BC95-0825DDF0D7D1}"/>
              </a:ext>
            </a:extLst>
          </p:cNvPr>
          <p:cNvSpPr txBox="1"/>
          <p:nvPr/>
        </p:nvSpPr>
        <p:spPr>
          <a:xfrm>
            <a:off x="484765" y="578566"/>
            <a:ext cx="2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三、其他设置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3A0EC29-E0E8-45F5-9030-91D4CEF2D194}"/>
              </a:ext>
            </a:extLst>
          </p:cNvPr>
          <p:cNvSpPr txBox="1"/>
          <p:nvPr/>
        </p:nvSpPr>
        <p:spPr>
          <a:xfrm>
            <a:off x="768857" y="1314341"/>
            <a:ext cx="2920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</a:t>
            </a:r>
            <a:r>
              <a:rPr lang="zh-CN" altLang="en-US" sz="1400" dirty="0"/>
              <a:t>、截断方式（续）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51B84D-2A9E-4C71-B792-617A1CF2B8B6}"/>
              </a:ext>
            </a:extLst>
          </p:cNvPr>
          <p:cNvSpPr/>
          <p:nvPr/>
        </p:nvSpPr>
        <p:spPr>
          <a:xfrm>
            <a:off x="665704" y="3571990"/>
            <a:ext cx="38868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dirty="0">
                <a:solidFill>
                  <a:prstClr val="black"/>
                </a:solidFill>
              </a:rPr>
              <a:t>勾选</a:t>
            </a:r>
            <a:r>
              <a:rPr lang="en-US" altLang="zh-CN" sz="1400" dirty="0">
                <a:solidFill>
                  <a:prstClr val="black"/>
                </a:solidFill>
              </a:rPr>
              <a:t>Excite fields inside source box only</a:t>
            </a:r>
            <a:r>
              <a:rPr lang="zh-CN" altLang="en-US" sz="1400" dirty="0">
                <a:solidFill>
                  <a:prstClr val="black"/>
                </a:solidFill>
              </a:rPr>
              <a:t>，即可设置</a:t>
            </a:r>
            <a:r>
              <a:rPr lang="en-US" altLang="zh-CN" sz="1400" dirty="0">
                <a:solidFill>
                  <a:prstClr val="black"/>
                </a:solidFill>
              </a:rPr>
              <a:t>box</a:t>
            </a:r>
            <a:r>
              <a:rPr lang="zh-CN" altLang="en-US" sz="1400" dirty="0">
                <a:solidFill>
                  <a:prstClr val="black"/>
                </a:solidFill>
              </a:rPr>
              <a:t>大小，高斯光束的激发的电磁场只在</a:t>
            </a:r>
            <a:r>
              <a:rPr lang="en-US" altLang="zh-CN" sz="1400" dirty="0">
                <a:solidFill>
                  <a:prstClr val="black"/>
                </a:solidFill>
              </a:rPr>
              <a:t>box</a:t>
            </a:r>
            <a:r>
              <a:rPr lang="zh-CN" altLang="en-US" sz="1400" dirty="0">
                <a:solidFill>
                  <a:prstClr val="black"/>
                </a:solidFill>
              </a:rPr>
              <a:t>内存在，</a:t>
            </a:r>
            <a:r>
              <a:rPr lang="en-US" altLang="zh-CN" sz="1400" dirty="0">
                <a:solidFill>
                  <a:prstClr val="black"/>
                </a:solidFill>
              </a:rPr>
              <a:t>box</a:t>
            </a:r>
            <a:r>
              <a:rPr lang="zh-CN" altLang="en-US" sz="1400" dirty="0">
                <a:solidFill>
                  <a:prstClr val="black"/>
                </a:solidFill>
              </a:rPr>
              <a:t>外部为零，</a:t>
            </a:r>
            <a:r>
              <a:rPr lang="zh-CN" altLang="en-US" sz="1400" dirty="0"/>
              <a:t>单位与文件设置的长度单位相同</a:t>
            </a:r>
            <a:r>
              <a:rPr lang="zh-CN" altLang="en-US" sz="1400" dirty="0">
                <a:solidFill>
                  <a:prstClr val="black"/>
                </a:solidFill>
              </a:rPr>
              <a:t>。</a:t>
            </a:r>
            <a:endParaRPr lang="en-US" altLang="zh-CN" sz="1400" dirty="0">
              <a:solidFill>
                <a:prstClr val="black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921F722-7A33-4F7A-A76B-267DBDE90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42" y="1885731"/>
            <a:ext cx="1905000" cy="119062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60E8B41-7108-4464-8D2C-E33F45218E8C}"/>
              </a:ext>
            </a:extLst>
          </p:cNvPr>
          <p:cNvSpPr/>
          <p:nvPr/>
        </p:nvSpPr>
        <p:spPr>
          <a:xfrm>
            <a:off x="6505839" y="2019127"/>
            <a:ext cx="388689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dirty="0">
                <a:solidFill>
                  <a:prstClr val="black"/>
                </a:solidFill>
              </a:rPr>
              <a:t>不勾选</a:t>
            </a:r>
            <a:r>
              <a:rPr lang="en-US" altLang="zh-CN" sz="1400" dirty="0">
                <a:solidFill>
                  <a:prstClr val="black"/>
                </a:solidFill>
              </a:rPr>
              <a:t>Excite fields inside source box only</a:t>
            </a:r>
            <a:r>
              <a:rPr lang="zh-CN" altLang="en-US" sz="1400" dirty="0">
                <a:solidFill>
                  <a:prstClr val="black"/>
                </a:solidFill>
              </a:rPr>
              <a:t>，即可直接通过误差自行截断，误差足够小便为</a:t>
            </a:r>
            <a:r>
              <a:rPr lang="en-US" altLang="zh-CN" sz="1400" dirty="0">
                <a:solidFill>
                  <a:prstClr val="black"/>
                </a:solidFill>
              </a:rPr>
              <a:t>0</a:t>
            </a:r>
            <a:r>
              <a:rPr lang="zh-CN" altLang="en-US" sz="1400" dirty="0">
                <a:solidFill>
                  <a:prstClr val="black"/>
                </a:solidFill>
              </a:rPr>
              <a:t>，光束宽度为截断的范围，。</a:t>
            </a:r>
            <a:endParaRPr lang="en-US" altLang="zh-CN" sz="1400" dirty="0">
              <a:solidFill>
                <a:prstClr val="black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EB66D2-B97F-44E4-A51C-697AE044C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247" y="564831"/>
            <a:ext cx="1952625" cy="11525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7911126-0806-4150-AA58-597F54B98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309" y="3248372"/>
            <a:ext cx="6377951" cy="262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01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DBA025E-6D87-4257-8FF3-CAF4FFCA1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48" y="1642101"/>
            <a:ext cx="1905000" cy="3524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75E21B4-554A-4CF3-9305-CBF4C242CCB1}"/>
              </a:ext>
            </a:extLst>
          </p:cNvPr>
          <p:cNvSpPr txBox="1"/>
          <p:nvPr/>
        </p:nvSpPr>
        <p:spPr>
          <a:xfrm>
            <a:off x="484765" y="1199834"/>
            <a:ext cx="2920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</a:t>
            </a:r>
            <a:r>
              <a:rPr lang="zh-CN" altLang="en-US" sz="1400" dirty="0"/>
              <a:t>、监视器添加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B3381A-EE23-4FD3-A6FA-0845F2E5B3DE}"/>
              </a:ext>
            </a:extLst>
          </p:cNvPr>
          <p:cNvSpPr txBox="1"/>
          <p:nvPr/>
        </p:nvSpPr>
        <p:spPr>
          <a:xfrm>
            <a:off x="484765" y="578566"/>
            <a:ext cx="2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三、其他设置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D709E0-470D-4C9E-9BB4-25922A78103D}"/>
              </a:ext>
            </a:extLst>
          </p:cNvPr>
          <p:cNvSpPr/>
          <p:nvPr/>
        </p:nvSpPr>
        <p:spPr>
          <a:xfrm>
            <a:off x="426042" y="2355586"/>
            <a:ext cx="388689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dirty="0">
                <a:solidFill>
                  <a:prstClr val="black"/>
                </a:solidFill>
              </a:rPr>
              <a:t>可根据自己需要选择进行勾选，根据勾选情况在生成高斯光束的同时生成电场、磁场或者远场监视器。</a:t>
            </a:r>
            <a:endParaRPr lang="en-US" altLang="zh-CN" sz="1400" dirty="0">
              <a:solidFill>
                <a:prstClr val="black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3BCB4E-033E-421F-B1D6-CE00AFF18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563" y="1172570"/>
            <a:ext cx="5391150" cy="77152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C6B36C7-95D2-4549-AA00-64DCE7520F82}"/>
              </a:ext>
            </a:extLst>
          </p:cNvPr>
          <p:cNvSpPr/>
          <p:nvPr/>
        </p:nvSpPr>
        <p:spPr>
          <a:xfrm>
            <a:off x="5997729" y="2355586"/>
            <a:ext cx="464789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dirty="0">
                <a:solidFill>
                  <a:prstClr val="black"/>
                </a:solidFill>
              </a:rPr>
              <a:t>        点击</a:t>
            </a:r>
            <a:r>
              <a:rPr lang="en-US" altLang="zh-CN" sz="1400" dirty="0">
                <a:solidFill>
                  <a:prstClr val="black"/>
                </a:solidFill>
              </a:rPr>
              <a:t>OK</a:t>
            </a:r>
            <a:r>
              <a:rPr lang="zh-CN" altLang="en-US" sz="1400" dirty="0">
                <a:solidFill>
                  <a:prstClr val="black"/>
                </a:solidFill>
              </a:rPr>
              <a:t>以后，即在生成高斯光束的过程中，如果发现设置有误，点击</a:t>
            </a:r>
            <a:r>
              <a:rPr lang="en-US" altLang="zh-CN" sz="1400" dirty="0">
                <a:solidFill>
                  <a:prstClr val="black"/>
                </a:solidFill>
              </a:rPr>
              <a:t>Abort</a:t>
            </a:r>
            <a:r>
              <a:rPr lang="zh-CN" altLang="en-US" sz="1400" dirty="0">
                <a:solidFill>
                  <a:prstClr val="black"/>
                </a:solidFill>
              </a:rPr>
              <a:t>，即可中止生成。（不过一般生成过程较快）</a:t>
            </a:r>
            <a:endParaRPr lang="en-US" altLang="zh-CN" sz="1400" dirty="0">
              <a:solidFill>
                <a:prstClr val="black"/>
              </a:solidFill>
            </a:endParaRPr>
          </a:p>
          <a:p>
            <a:pPr lvl="0"/>
            <a:r>
              <a:rPr lang="zh-CN" altLang="en-US" sz="1400" dirty="0">
                <a:solidFill>
                  <a:prstClr val="black"/>
                </a:solidFill>
              </a:rPr>
              <a:t>        </a:t>
            </a:r>
            <a:r>
              <a:rPr lang="en-US" altLang="zh-CN" sz="1400" dirty="0">
                <a:solidFill>
                  <a:prstClr val="black"/>
                </a:solidFill>
              </a:rPr>
              <a:t>Exit</a:t>
            </a:r>
            <a:r>
              <a:rPr lang="zh-CN" altLang="en-US" sz="1400" dirty="0">
                <a:solidFill>
                  <a:prstClr val="black"/>
                </a:solidFill>
              </a:rPr>
              <a:t>为退出，点击</a:t>
            </a:r>
            <a:r>
              <a:rPr lang="en-US" altLang="zh-CN" sz="1400" dirty="0">
                <a:solidFill>
                  <a:prstClr val="black"/>
                </a:solidFill>
              </a:rPr>
              <a:t>×</a:t>
            </a:r>
            <a:r>
              <a:rPr lang="zh-CN" altLang="en-US" sz="1400" dirty="0">
                <a:solidFill>
                  <a:prstClr val="black"/>
                </a:solidFill>
              </a:rPr>
              <a:t>与点</a:t>
            </a:r>
            <a:r>
              <a:rPr lang="en-US" altLang="zh-CN" sz="1400" dirty="0">
                <a:solidFill>
                  <a:prstClr val="black"/>
                </a:solidFill>
              </a:rPr>
              <a:t>OK</a:t>
            </a:r>
            <a:r>
              <a:rPr lang="zh-CN" altLang="en-US" sz="1400" dirty="0">
                <a:solidFill>
                  <a:prstClr val="black"/>
                </a:solidFill>
              </a:rPr>
              <a:t>效果一样，只有点击</a:t>
            </a:r>
            <a:r>
              <a:rPr lang="en-US" altLang="zh-CN" sz="1400" dirty="0">
                <a:solidFill>
                  <a:prstClr val="black"/>
                </a:solidFill>
              </a:rPr>
              <a:t>Exit</a:t>
            </a:r>
            <a:r>
              <a:rPr lang="zh-CN" altLang="en-US" sz="1400" dirty="0">
                <a:solidFill>
                  <a:prstClr val="black"/>
                </a:solidFill>
              </a:rPr>
              <a:t>才能退出且不生成高斯光束。</a:t>
            </a:r>
            <a:endParaRPr lang="en-US" altLang="zh-CN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15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658</Words>
  <Application>Microsoft Office PowerPoint</Application>
  <PresentationFormat>宽屏</PresentationFormat>
  <Paragraphs>45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 Z Y</dc:creator>
  <cp:lastModifiedBy>WT</cp:lastModifiedBy>
  <cp:revision>41</cp:revision>
  <dcterms:created xsi:type="dcterms:W3CDTF">2019-05-10T07:08:03Z</dcterms:created>
  <dcterms:modified xsi:type="dcterms:W3CDTF">2022-10-10T03:20:30Z</dcterms:modified>
</cp:coreProperties>
</file>